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7125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UMHackathon 2026 · Domain 2 · Decision Intelligence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Ronda.</a:t>
            </a:r>
            <a:endParaRPr lang="en-US" sz="13000" dirty="0"/>
          </a:p>
        </p:txBody>
      </p:sp>
      <p:sp>
        <p:nvSpPr>
          <p:cNvPr id="4" name="Shape 2"/>
          <p:cNvSpPr/>
          <p:nvPr/>
        </p:nvSpPr>
        <p:spPr>
          <a:xfrm>
            <a:off x="548640" y="4023360"/>
            <a:ext cx="4572000" cy="0"/>
          </a:xfrm>
          <a:prstGeom prst="line">
            <a:avLst/>
          </a:prstGeom>
          <a:noFill/>
          <a:ln w="19050">
            <a:solidFill>
              <a:srgbClr val="E87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AI shift coach for Malaysian gig riders.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ILMU-GLM-5.1.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Srinivaas · Thenesh · Teeva · Davud · Ambrish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71055" y="5943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kern="0" spc="3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github.com/Srinivaas-only/ronda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The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7105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intelligence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EVERY RIDER FACES, EVERY MORNING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Should I work today, where, and when?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32918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a rider needs is fragmented across five places: weather apps, the platform's incentive bulletin, news for events, fuel-price tickers, and their own earnings history.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tool synthesises them. So riders default to habit — working their usual hours and zones, leaving 10–25% of potential income on the table.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83680" y="3291840"/>
            <a:ext cx="5029200" cy="4572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76656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0" y="3291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Weather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0" y="3886200"/>
            <a:ext cx="5029200" cy="4572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6656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0" y="38862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4480560"/>
            <a:ext cx="5029200" cy="4572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0" y="4480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Incentives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583680" y="5074920"/>
            <a:ext cx="5029200" cy="4572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66560" y="5074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0" y="50749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Fuel price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83680" y="5669280"/>
            <a:ext cx="5029200" cy="4572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766560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56692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own history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Who this is for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7105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personas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MALAYSIA · 800,000 ACTIVE GIG WORKERS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Aiman is the one we built for.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3657600" cy="3108960"/>
          </a:xfrm>
          <a:prstGeom prst="rect">
            <a:avLst/>
          </a:prstGeom>
          <a:solidFill>
            <a:srgbClr val="15140F"/>
          </a:solidFill>
          <a:ln w="12700">
            <a:solidFill>
              <a:srgbClr val="E87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Aiman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· foodpanda rider · PJ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7548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2,800–3,500/month. Klang Valley. 125cc motorbike. Two years experience. Lives in Petaling Jaya. Decides every morning over breakfast.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434840" y="3291840"/>
            <a:ext cx="3657600" cy="310896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6344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Mei Ling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66344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· Grab driver · Bangsar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63440" y="47548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driver. Optimises around concerts and sports events. Income peaks around Axiata Arena and Bukit Jalil shows.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3291840"/>
            <a:ext cx="3657600" cy="310896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5496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SECONDARY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549640" y="37033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Ravi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54964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· Lalamove parcels · Subang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549640" y="475488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B2B parcel routes. Decides whether to ride at all on quiet Tuesdays — needs to know if expected earnings cover petrol plus opportunity cost.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The product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7105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Ronda works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SCREEN · ONE DECISION · TEN SECONDS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Ronda about today. Get a brief.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3657600" cy="32004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it your day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572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Smart-defaulted form: weather, events, incentives, fuel price, your 7-day average. Edit anything.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53128" y="3200400"/>
            <a:ext cx="3657600" cy="32004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27448" y="3337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27448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GLM reasons over it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27448" y="4572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ILMU-GLM-5.1 weights the signals against your own historical earnings pattern. ~10 seconds.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57616" y="3200400"/>
            <a:ext cx="3657600" cy="32004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31936" y="33375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31936" y="37033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a structured brief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631936" y="457200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Verdict, shift windows, projected net, narrative, ranked factors, caveats. Editorial layout.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The output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7105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Real GLM brief, captured live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FRIDAY · 25 APRIL · KLANG VALLEY · CAPTURED FROM ILMU-GLM-5.1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Hi, Aiman.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 part-time.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A96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Medium confidence.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2651760" cy="13716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GROSS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" y="4526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120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3337560" y="4023360"/>
            <a:ext cx="2651760" cy="13716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566160" y="4206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PETROL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66160" y="4526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RM 25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6126480" y="4023360"/>
            <a:ext cx="2651760" cy="1371600"/>
          </a:xfrm>
          <a:prstGeom prst="rect">
            <a:avLst/>
          </a:prstGeom>
          <a:solidFill>
            <a:srgbClr val="E87158"/>
          </a:solidFill>
          <a:ln w="12700">
            <a:solidFill>
              <a:srgbClr val="E87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5508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45262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95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355080" y="5029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RM 105 7-day avg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5256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GLM IS THINKING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52560" y="1783080"/>
            <a:ext cx="2743200" cy="0"/>
          </a:xfrm>
          <a:prstGeom prst="line">
            <a:avLst/>
          </a:prstGeom>
          <a:noFill/>
          <a:ln w="19050">
            <a:solidFill>
              <a:srgbClr val="E87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052560" y="192024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"Afternoon rain usually kills your earnings, so better skip 12pm to 5pm based on your RM10 rainy-day history. Evening got big crowd from KL Grand Prix plus Bangsar incentive — confirm can cover the loss."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52560" y="5486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 ilmu-glm-5.1, 25.1s, 2,166 tokens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· Why GLM is load-bearing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7105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Domain 2 acid test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 RIDER · SAME INPUTS · DIFFERENT BRAINS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Remove GLM and the product collapses.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3017520"/>
            <a:ext cx="5486400" cy="32004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RULES ENGINE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 &amp; static.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77240" y="4069080"/>
            <a:ext cx="5029200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 </a:t>
            </a:r>
            <a:endParaRPr lang="en-US" sz="1000" dirty="0"/>
          </a:p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 part-time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projection </a:t>
            </a:r>
            <a:endParaRPr lang="en-US" sz="1000" dirty="0"/>
          </a:p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105 (= 7-day avg)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 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signals. Default to your average.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0" y="3017520"/>
            <a:ext cx="5486400" cy="3200400"/>
          </a:xfrm>
          <a:prstGeom prst="rect">
            <a:avLst/>
          </a:prstGeom>
          <a:solidFill>
            <a:srgbClr val="15140F"/>
          </a:solidFill>
          <a:ln w="12700">
            <a:solidFill>
              <a:srgbClr val="E87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92240" y="3154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4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ILMU-GLM-5.1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92240" y="3429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Contextual &amp; defensible.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92240" y="4069080"/>
            <a:ext cx="5029200" cy="0"/>
          </a:xfrm>
          <a:prstGeom prst="line">
            <a:avLst/>
          </a:prstGeom>
          <a:noFill/>
          <a:ln w="6350">
            <a:solidFill>
              <a:srgbClr val="E87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92240" y="420624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 </a:t>
            </a:r>
            <a:endParaRPr lang="en-US" sz="1000" dirty="0"/>
          </a:p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 part-time, split shifts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projection </a:t>
            </a:r>
            <a:endParaRPr lang="en-US" sz="1000" dirty="0"/>
          </a:p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RM 95 (cites RM 10 rainy-day history)</a:t>
            </a:r>
            <a:endParaRPr lang="en-US" sz="1000" dirty="0"/>
          </a:p>
          <a:p>
            <a:pPr marL="0" indent="0">
              <a:buNone/>
            </a:pPr>
            <a:r>
              <a:rPr lang="en-US" sz="800" dirty="0">
                <a:solidFill>
                  <a:srgbClr val="000000"/>
                </a:solidFill>
              </a:rPr>
              <a:t>  </a:t>
            </a:r>
            <a:endParaRPr lang="en-US" sz="1000" dirty="0"/>
          </a:p>
          <a:p>
            <a:pPr marL="0" indent="0">
              <a:buNone/>
            </a:pPr>
            <a:r>
              <a:rPr lang="en-US" sz="10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 </a:t>
            </a:r>
            <a:endParaRPr lang="en-US" sz="1000" dirty="0"/>
          </a:p>
          <a:p>
            <a:pPr marL="0" indent="0">
              <a:buNone/>
            </a:pPr>
            <a:r>
              <a:rPr lang="en-US" sz="12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12–5pm rain window. Evening Bangsar covers the loss via incentive + Bukit Jalil crowd.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7105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Three tiers, one hot dependency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BUILT FOR THE JUDGES IN THE ROOM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LLM calls. Real schema. Real fallbacks.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11064240" cy="9144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200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Next.js 16 · React 19 · Tailwind v4 · TypeScript · custom Select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HTTPS / JSON · POST /api/recommend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4434840"/>
            <a:ext cx="11064240" cy="91440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" y="4800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· Pydantic v2 · context summariser · prompt builder · 3-tier fallback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3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 Anthropic-compatible API · streaming preferred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5760720"/>
            <a:ext cx="11064240" cy="914400"/>
          </a:xfrm>
          <a:prstGeom prst="rect">
            <a:avLst/>
          </a:prstGeom>
          <a:solidFill>
            <a:srgbClr val="E87158"/>
          </a:solidFill>
          <a:ln w="12700">
            <a:solidFill>
              <a:srgbClr val="E87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5852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 ENGINE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77240" y="6126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ILMU-GLM-5.1 · api.ilmu.ai/anthropic · Z.AI / YTL AI Labs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· Engineering decisions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7105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learned, hard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FOUR REAL CONSTRAINTS, FOUR REAL FIXES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Production-grade integration with a frontier model.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5486400" cy="178308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CLOUDFLARE 504s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summariser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 JSON tripped Cloudflare's 100s ceiling. We compress 3,200-char ContextPackets to 350-char paragraphs. Latency: 504 → 10s.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9632" y="2743200"/>
            <a:ext cx="5486400" cy="178308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STREAMING DROPS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73952" y="3154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fallback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73952" y="37033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ILMU streams sometimes drop mid-response. Tier 1 stream → Tier 2 non-stream → Tier 3 deterministic rules. Source flag exposed to UI.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690872"/>
            <a:ext cx="5486400" cy="178308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48280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NON-TEXT BLOCKS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" y="51023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 from final message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22960" y="56509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GLM-5.1 occasionally returns content in thinking blocks the streaming iterator skips. We read from final.content instead.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9632" y="4690872"/>
            <a:ext cx="5486400" cy="178308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73952" y="482803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· SCHEMA DRIFT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73952" y="510235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Pydantic + corrective retry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73952" y="565099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response validates against ShiftRecommendation. On failure: one retry with the error fed back to GLM. Then degrade to rules.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· Real measured numbers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7105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 vibes, instrumentation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NUMBER FROM A LIVE GLM CALL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Instrumented from day one.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3657600" cy="155448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 LATENCY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s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77240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p50 across 10 sequential live calls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70832" y="3291840"/>
            <a:ext cx="3657600" cy="155448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99432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P95 LATENCY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99432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s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599432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our under-30s target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93024" y="3291840"/>
            <a:ext cx="3657600" cy="155448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21624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TOKENS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421624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1,200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421624" y="4389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 recommendation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010912"/>
            <a:ext cx="3657600" cy="155448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7240" y="5193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SIZE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" y="55138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750 ch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77240" y="6108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context compression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370832" y="5010912"/>
            <a:ext cx="3657600" cy="155448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99432" y="5193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QUOTA HEADROOM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99432" y="55138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16,000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4599432" y="6108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on 50M tokens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93024" y="5010912"/>
            <a:ext cx="3657600" cy="155448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421624" y="51937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 PASS RATE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21624" y="551383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100 %</a:t>
            </a:r>
            <a:endParaRPr lang="en-US" sz="3200" dirty="0"/>
          </a:p>
        </p:txBody>
      </p:sp>
      <p:sp>
        <p:nvSpPr>
          <p:cNvPr id="32" name="Text 30"/>
          <p:cNvSpPr/>
          <p:nvPr/>
        </p:nvSpPr>
        <p:spPr>
          <a:xfrm>
            <a:off x="8421624" y="61081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First-try validation, n=10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· Market &amp; impact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7105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this matters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B40 ECONOMIC EMPOWERMENT · DOMAIN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 RM 1–2 billion of leakage per year.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48640" y="3291840"/>
            <a:ext cx="3657600" cy="164592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 GIG WORKERS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77240" y="3794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800K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77724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foodpanda, Grab, Lalamove (MY)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3291840"/>
            <a:ext cx="3657600" cy="164592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ADDRESSABLE LEAK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63440" y="3794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10–25%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466344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daily potential income, per rider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321040" y="3291840"/>
            <a:ext cx="3657600" cy="164592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49640" y="3474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MONTHLY UPLIFT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49640" y="37947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E8E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 280–350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54964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we recover just 10% of that gap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solidFill>
            <a:srgbClr val="15140F"/>
          </a:solidFill>
          <a:ln w="12700">
            <a:solidFill>
              <a:srgbClr val="E87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68680" y="52120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"That's a meaningful uplift in a category where median Malaysian household income is RM 6,338 (DOSM 2022)."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2011680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· What's next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071055" y="384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Beyond the hackathon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1094415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2865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PRELIMINARY → FINAL → PRODUCTION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We've shipped the engine. Now scale it.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3703320" cy="3291840"/>
          </a:xfrm>
          <a:prstGeom prst="rect">
            <a:avLst/>
          </a:prstGeom>
          <a:solidFill>
            <a:srgbClr val="15140F"/>
          </a:solidFill>
          <a:ln w="12700">
            <a:solidFill>
              <a:srgbClr val="E87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Preliminary submission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2960" y="452628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product. Full stack live. PRD, SAD, QATD, code repo — all submitted.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3108960"/>
            <a:ext cx="3703320" cy="329184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3246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ROUND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09160" y="3611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 &amp; evidence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09160" y="452628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harness across 5 personas. Open-Meteo live weather. Vercel + Render deployment.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21040" y="3108960"/>
            <a:ext cx="3703320" cy="3291840"/>
          </a:xfrm>
          <a:prstGeom prst="rect">
            <a:avLst/>
          </a:prstGeom>
          <a:solidFill>
            <a:srgbClr val="15140F"/>
          </a:solidFill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95360" y="324612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4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595360" y="361188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riders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595360" y="4526280"/>
            <a:ext cx="3154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earnings ingestion. Redis cache. Push-notification midday re-plan. Multi-language UI.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C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09728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Ronda.</a:t>
            </a:r>
            <a:endParaRPr lang="en-US" sz="8800" dirty="0"/>
          </a:p>
        </p:txBody>
      </p:sp>
      <p:sp>
        <p:nvSpPr>
          <p:cNvPr id="3" name="Shape 1"/>
          <p:cNvSpPr/>
          <p:nvPr/>
        </p:nvSpPr>
        <p:spPr>
          <a:xfrm>
            <a:off x="548640" y="2651760"/>
            <a:ext cx="4572000" cy="0"/>
          </a:xfrm>
          <a:prstGeom prst="line">
            <a:avLst/>
          </a:prstGeom>
          <a:noFill/>
          <a:ln w="19050">
            <a:solidFill>
              <a:srgbClr val="E8715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 intelligence for the people who need it most.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A96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10 days for UMHackathon 2026 · Domain 2.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937760"/>
            <a:ext cx="11094415" cy="0"/>
          </a:xfrm>
          <a:prstGeom prst="line">
            <a:avLst/>
          </a:prstGeom>
          <a:noFill/>
          <a:ln w="6350">
            <a:solidFill>
              <a:srgbClr val="2A28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5120640"/>
            <a:ext cx="22188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Srinivaas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5532120"/>
            <a:ext cx="221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 &amp; ML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67523" y="5120640"/>
            <a:ext cx="22188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Thenesh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767523" y="5532120"/>
            <a:ext cx="221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986406" y="5120640"/>
            <a:ext cx="22188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Teeva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86406" y="5532120"/>
            <a:ext cx="221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UI/UX &amp; Brand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205289" y="5120640"/>
            <a:ext cx="22188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Davud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05289" y="5532120"/>
            <a:ext cx="221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QA &amp; Docs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424172" y="5120640"/>
            <a:ext cx="22188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8E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Ambrish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424172" y="5532120"/>
            <a:ext cx="2218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 &amp; Pitch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6217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871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github.com/Srinivaas-only/ronda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071055" y="6217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300" dirty="0">
                <a:solidFill>
                  <a:srgbClr val="9A96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Powered by ILMU-GLM-5.1.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1106</Words>
  <Application>Microsoft Office PowerPoint</Application>
  <PresentationFormat>Widescreen</PresentationFormat>
  <Paragraphs>216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UMHackathon 2026 · Domain 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Ronda — AI Shift Coach for Malaysian Gig Riders</dc:title>
  <dc:subject>PptxGenJS Presentation</dc:subject>
  <dc:creator>Team Ronda</dc:creator>
  <cp:lastModifiedBy>srinivaas thiruchselvam</cp:lastModifiedBy>
  <cp:revision>1</cp:revision>
  <dcterms:created xsi:type="dcterms:W3CDTF">2026-04-25T16:17:13Z</dcterms:created>
  <dcterms:modified xsi:type="dcterms:W3CDTF">2026-04-25T21:30:40Z</dcterms:modified>
</cp:coreProperties>
</file>